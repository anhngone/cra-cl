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300" y="-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A44"/>
                </a:solidFill>
              </a:rPr>
              <a:t>1. Dự án &amp; Mục tiêu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280160" cy="5080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4605"/>
            <a:ext cx="8372998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 dirty="0" err="1">
                <a:solidFill>
                  <a:schemeClr val="tx2"/>
                </a:solidFill>
              </a:rPr>
              <a:t>Hệ</a:t>
            </a:r>
            <a:r>
              <a:rPr sz="2500" b="1" dirty="0">
                <a:solidFill>
                  <a:schemeClr val="tx2"/>
                </a:solidFill>
              </a:rPr>
              <a:t> </a:t>
            </a:r>
            <a:r>
              <a:rPr sz="2500" b="1" dirty="0" err="1">
                <a:solidFill>
                  <a:schemeClr val="tx2"/>
                </a:solidFill>
              </a:rPr>
              <a:t>thống</a:t>
            </a:r>
            <a:r>
              <a:rPr sz="2500" b="1" dirty="0">
                <a:solidFill>
                  <a:schemeClr val="tx2"/>
                </a:solidFill>
              </a:rPr>
              <a:t> </a:t>
            </a:r>
            <a:r>
              <a:rPr sz="2500" b="1" dirty="0" err="1">
                <a:solidFill>
                  <a:schemeClr val="tx2"/>
                </a:solidFill>
              </a:rPr>
              <a:t>đánh</a:t>
            </a:r>
            <a:r>
              <a:rPr sz="2500" b="1" dirty="0">
                <a:solidFill>
                  <a:schemeClr val="tx2"/>
                </a:solidFill>
              </a:rPr>
              <a:t> </a:t>
            </a:r>
            <a:r>
              <a:rPr sz="2500" b="1" dirty="0" err="1">
                <a:solidFill>
                  <a:schemeClr val="tx2"/>
                </a:solidFill>
              </a:rPr>
              <a:t>giá</a:t>
            </a:r>
            <a:r>
              <a:rPr sz="2500" b="1" dirty="0">
                <a:solidFill>
                  <a:schemeClr val="tx2"/>
                </a:solidFill>
              </a:rPr>
              <a:t> </a:t>
            </a:r>
            <a:r>
              <a:rPr sz="2500" b="1" dirty="0" err="1">
                <a:solidFill>
                  <a:schemeClr val="tx2"/>
                </a:solidFill>
              </a:rPr>
              <a:t>và</a:t>
            </a:r>
            <a:r>
              <a:rPr sz="2500" b="1" dirty="0">
                <a:solidFill>
                  <a:schemeClr val="tx2"/>
                </a:solidFill>
              </a:rPr>
              <a:t> </a:t>
            </a:r>
            <a:r>
              <a:rPr sz="2500" b="1" dirty="0" err="1">
                <a:solidFill>
                  <a:schemeClr val="tx2"/>
                </a:solidFill>
              </a:rPr>
              <a:t>chấm</a:t>
            </a:r>
            <a:r>
              <a:rPr sz="2500" b="1" dirty="0">
                <a:solidFill>
                  <a:schemeClr val="tx2"/>
                </a:solidFill>
              </a:rPr>
              <a:t> </a:t>
            </a:r>
            <a:r>
              <a:rPr sz="2500" b="1" dirty="0" err="1">
                <a:solidFill>
                  <a:schemeClr val="tx2"/>
                </a:solidFill>
              </a:rPr>
              <a:t>điểm</a:t>
            </a:r>
            <a:r>
              <a:rPr sz="2500" b="1" dirty="0">
                <a:solidFill>
                  <a:schemeClr val="tx2"/>
                </a:solidFill>
              </a:rPr>
              <a:t> </a:t>
            </a:r>
            <a:r>
              <a:rPr sz="2500" b="1" dirty="0" err="1">
                <a:solidFill>
                  <a:schemeClr val="tx2"/>
                </a:solidFill>
              </a:rPr>
              <a:t>rủi</a:t>
            </a:r>
            <a:r>
              <a:rPr sz="2500" b="1" dirty="0">
                <a:solidFill>
                  <a:schemeClr val="tx2"/>
                </a:solidFill>
              </a:rPr>
              <a:t> </a:t>
            </a:r>
            <a:r>
              <a:rPr sz="2500" b="1" dirty="0" err="1">
                <a:solidFill>
                  <a:schemeClr val="tx2"/>
                </a:solidFill>
              </a:rPr>
              <a:t>ro</a:t>
            </a:r>
            <a:r>
              <a:rPr sz="2500" b="1" dirty="0">
                <a:solidFill>
                  <a:schemeClr val="tx2"/>
                </a:solidFill>
              </a:rPr>
              <a:t> </a:t>
            </a:r>
            <a:r>
              <a:rPr sz="2500" b="1" dirty="0" err="1">
                <a:solidFill>
                  <a:schemeClr val="tx2"/>
                </a:solidFill>
              </a:rPr>
              <a:t>tín</a:t>
            </a:r>
            <a:r>
              <a:rPr sz="2500" b="1" dirty="0">
                <a:solidFill>
                  <a:schemeClr val="tx2"/>
                </a:solidFill>
              </a:rPr>
              <a:t> </a:t>
            </a:r>
            <a:r>
              <a:rPr sz="2500" b="1" dirty="0" err="1">
                <a:solidFill>
                  <a:schemeClr val="tx2"/>
                </a:solidFill>
              </a:rPr>
              <a:t>dụng</a:t>
            </a:r>
            <a:r>
              <a:rPr sz="2500" b="1" dirty="0">
                <a:solidFill>
                  <a:schemeClr val="tx2"/>
                </a:solidFill>
              </a:rPr>
              <a:t> </a:t>
            </a:r>
            <a:r>
              <a:rPr sz="2500" b="1" dirty="0" err="1">
                <a:solidFill>
                  <a:schemeClr val="tx2"/>
                </a:solidFill>
              </a:rPr>
              <a:t>vay</a:t>
            </a:r>
            <a:r>
              <a:rPr sz="2500" b="1" dirty="0">
                <a:solidFill>
                  <a:schemeClr val="tx2"/>
                </a:solidFill>
              </a:rPr>
              <a:t> </a:t>
            </a:r>
            <a:r>
              <a:rPr sz="2500" b="1" dirty="0" err="1">
                <a:solidFill>
                  <a:schemeClr val="tx2"/>
                </a:solidFill>
              </a:rPr>
              <a:t>tiêu</a:t>
            </a:r>
            <a:r>
              <a:rPr sz="2500" b="1" dirty="0">
                <a:solidFill>
                  <a:schemeClr val="tx2"/>
                </a:solidFill>
              </a:rPr>
              <a:t> </a:t>
            </a:r>
            <a:r>
              <a:rPr sz="2500" b="1" dirty="0" err="1">
                <a:solidFill>
                  <a:schemeClr val="tx2"/>
                </a:solidFill>
              </a:rPr>
              <a:t>dùng</a:t>
            </a:r>
            <a:endParaRPr sz="2500" b="1" dirty="0">
              <a:solidFill>
                <a:schemeClr val="tx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2258568"/>
            <a:ext cx="5074920" cy="2859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1" dirty="0">
                <a:solidFill>
                  <a:srgbClr val="2E6F95"/>
                </a:solidFill>
              </a:rPr>
              <a:t>Business Problem</a:t>
            </a:r>
          </a:p>
          <a:p>
            <a:pPr>
              <a:spcAft>
                <a:spcPts val="300"/>
              </a:spcAft>
            </a:pPr>
            <a:r>
              <a:rPr b="0" dirty="0">
                <a:solidFill>
                  <a:srgbClr val="555555"/>
                </a:solidFill>
              </a:rPr>
              <a:t>• </a:t>
            </a:r>
            <a:r>
              <a:rPr b="0" dirty="0" err="1">
                <a:solidFill>
                  <a:srgbClr val="555555"/>
                </a:solidFill>
              </a:rPr>
              <a:t>Tổ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chức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tài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chính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phải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cân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bằng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giữa</a:t>
            </a:r>
            <a:r>
              <a:rPr b="0" dirty="0">
                <a:solidFill>
                  <a:srgbClr val="555555"/>
                </a:solidFill>
              </a:rPr>
              <a:t>:</a:t>
            </a:r>
          </a:p>
          <a:p>
            <a:pPr lvl="1">
              <a:spcAft>
                <a:spcPts val="300"/>
              </a:spcAft>
            </a:pPr>
            <a:r>
              <a:rPr b="0" dirty="0">
                <a:solidFill>
                  <a:srgbClr val="555555"/>
                </a:solidFill>
              </a:rPr>
              <a:t>– </a:t>
            </a:r>
            <a:r>
              <a:rPr b="0" dirty="0" err="1">
                <a:solidFill>
                  <a:srgbClr val="555555"/>
                </a:solidFill>
              </a:rPr>
              <a:t>Tăng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tỷ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lệ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phê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duyệt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để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tăng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doanh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thu</a:t>
            </a:r>
            <a:endParaRPr b="0" dirty="0">
              <a:solidFill>
                <a:srgbClr val="555555"/>
              </a:solidFill>
            </a:endParaRPr>
          </a:p>
          <a:p>
            <a:pPr lvl="1">
              <a:spcAft>
                <a:spcPts val="300"/>
              </a:spcAft>
            </a:pPr>
            <a:r>
              <a:rPr b="0" dirty="0">
                <a:solidFill>
                  <a:srgbClr val="555555"/>
                </a:solidFill>
              </a:rPr>
              <a:t>– </a:t>
            </a:r>
            <a:r>
              <a:rPr b="0" dirty="0" err="1">
                <a:solidFill>
                  <a:srgbClr val="555555"/>
                </a:solidFill>
              </a:rPr>
              <a:t>Giảm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tỷ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lệ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vỡ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nợ</a:t>
            </a:r>
            <a:r>
              <a:rPr b="0" dirty="0">
                <a:solidFill>
                  <a:srgbClr val="555555"/>
                </a:solidFill>
              </a:rPr>
              <a:t> (default) </a:t>
            </a:r>
            <a:r>
              <a:rPr b="0" dirty="0" err="1">
                <a:solidFill>
                  <a:srgbClr val="555555"/>
                </a:solidFill>
              </a:rPr>
              <a:t>để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hạn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chế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nợ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xấu</a:t>
            </a:r>
            <a:endParaRPr b="0" dirty="0">
              <a:solidFill>
                <a:srgbClr val="555555"/>
              </a:solidFill>
            </a:endParaRPr>
          </a:p>
          <a:p>
            <a:pPr>
              <a:spcAft>
                <a:spcPts val="300"/>
              </a:spcAft>
            </a:pPr>
            <a:r>
              <a:rPr b="0" dirty="0">
                <a:solidFill>
                  <a:srgbClr val="555555"/>
                </a:solidFill>
              </a:rPr>
              <a:t>• </a:t>
            </a:r>
            <a:r>
              <a:rPr b="0" dirty="0" err="1">
                <a:solidFill>
                  <a:srgbClr val="555555"/>
                </a:solidFill>
              </a:rPr>
              <a:t>Khó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khăn</a:t>
            </a:r>
            <a:r>
              <a:rPr b="0" dirty="0">
                <a:solidFill>
                  <a:srgbClr val="555555"/>
                </a:solidFill>
              </a:rPr>
              <a:t>:</a:t>
            </a:r>
          </a:p>
          <a:p>
            <a:pPr lvl="1">
              <a:spcAft>
                <a:spcPts val="300"/>
              </a:spcAft>
            </a:pPr>
            <a:r>
              <a:rPr b="0" dirty="0">
                <a:solidFill>
                  <a:srgbClr val="555555"/>
                </a:solidFill>
              </a:rPr>
              <a:t>– </a:t>
            </a:r>
            <a:r>
              <a:rPr b="0" dirty="0" err="1">
                <a:solidFill>
                  <a:srgbClr val="555555"/>
                </a:solidFill>
              </a:rPr>
              <a:t>Hồ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sơ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khách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hàng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đa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dạng</a:t>
            </a:r>
            <a:r>
              <a:rPr b="0" dirty="0">
                <a:solidFill>
                  <a:srgbClr val="555555"/>
                </a:solidFill>
              </a:rPr>
              <a:t>, </a:t>
            </a:r>
            <a:r>
              <a:rPr b="0" dirty="0" err="1">
                <a:solidFill>
                  <a:srgbClr val="555555"/>
                </a:solidFill>
              </a:rPr>
              <a:t>nhiều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yếu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tố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cùng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ảnh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hưởng</a:t>
            </a:r>
            <a:endParaRPr b="0" dirty="0">
              <a:solidFill>
                <a:srgbClr val="555555"/>
              </a:solidFill>
            </a:endParaRPr>
          </a:p>
          <a:p>
            <a:pPr lvl="1">
              <a:spcAft>
                <a:spcPts val="300"/>
              </a:spcAft>
            </a:pPr>
            <a:r>
              <a:rPr b="0" dirty="0">
                <a:solidFill>
                  <a:srgbClr val="555555"/>
                </a:solidFill>
              </a:rPr>
              <a:t>– </a:t>
            </a:r>
            <a:r>
              <a:rPr b="0" dirty="0" err="1">
                <a:solidFill>
                  <a:srgbClr val="555555"/>
                </a:solidFill>
              </a:rPr>
              <a:t>Đánh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giá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thủ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công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dễ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thiếu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nhất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quán</a:t>
            </a:r>
            <a:r>
              <a:rPr b="0" dirty="0">
                <a:solidFill>
                  <a:srgbClr val="555555"/>
                </a:solidFill>
              </a:rPr>
              <a:t>, </a:t>
            </a:r>
            <a:r>
              <a:rPr b="0" dirty="0" err="1">
                <a:solidFill>
                  <a:srgbClr val="555555"/>
                </a:solidFill>
              </a:rPr>
              <a:t>khó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mở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rộng</a:t>
            </a:r>
            <a:endParaRPr b="0" dirty="0">
              <a:solidFill>
                <a:srgbClr val="555555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24158" y="2256354"/>
            <a:ext cx="5394960" cy="19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1" dirty="0" err="1">
                <a:solidFill>
                  <a:srgbClr val="2E6F95"/>
                </a:solidFill>
              </a:rPr>
              <a:t>Mục</a:t>
            </a:r>
            <a:r>
              <a:rPr sz="2000" b="1" dirty="0">
                <a:solidFill>
                  <a:srgbClr val="2E6F95"/>
                </a:solidFill>
              </a:rPr>
              <a:t> </a:t>
            </a:r>
            <a:r>
              <a:rPr sz="2000" b="1" dirty="0" err="1">
                <a:solidFill>
                  <a:srgbClr val="2E6F95"/>
                </a:solidFill>
              </a:rPr>
              <a:t>tiêu</a:t>
            </a:r>
            <a:r>
              <a:rPr sz="2000" b="1" dirty="0">
                <a:solidFill>
                  <a:srgbClr val="2E6F95"/>
                </a:solidFill>
              </a:rPr>
              <a:t> </a:t>
            </a:r>
            <a:r>
              <a:rPr sz="2000" b="1" dirty="0" err="1">
                <a:solidFill>
                  <a:srgbClr val="2E6F95"/>
                </a:solidFill>
              </a:rPr>
              <a:t>dự</a:t>
            </a:r>
            <a:r>
              <a:rPr sz="2000" b="1" dirty="0">
                <a:solidFill>
                  <a:srgbClr val="2E6F95"/>
                </a:solidFill>
              </a:rPr>
              <a:t> </a:t>
            </a:r>
            <a:r>
              <a:rPr sz="2000" b="1" dirty="0" err="1">
                <a:solidFill>
                  <a:srgbClr val="2E6F95"/>
                </a:solidFill>
              </a:rPr>
              <a:t>án</a:t>
            </a:r>
            <a:endParaRPr sz="2000" b="1" dirty="0">
              <a:solidFill>
                <a:srgbClr val="2E6F95"/>
              </a:solidFill>
            </a:endParaRPr>
          </a:p>
          <a:p>
            <a:pPr>
              <a:spcAft>
                <a:spcPts val="300"/>
              </a:spcAft>
            </a:pPr>
            <a:r>
              <a:rPr b="0" dirty="0" err="1">
                <a:solidFill>
                  <a:srgbClr val="555555"/>
                </a:solidFill>
              </a:rPr>
              <a:t>Xây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dựng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hệ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thống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hỗ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trợ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chuyên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viên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tín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dụng</a:t>
            </a:r>
            <a:r>
              <a:rPr b="0" dirty="0">
                <a:solidFill>
                  <a:srgbClr val="555555"/>
                </a:solidFill>
              </a:rPr>
              <a:t>:</a:t>
            </a:r>
          </a:p>
          <a:p>
            <a:pPr lvl="1">
              <a:spcAft>
                <a:spcPts val="300"/>
              </a:spcAft>
            </a:pPr>
            <a:r>
              <a:rPr b="0" dirty="0">
                <a:solidFill>
                  <a:srgbClr val="555555"/>
                </a:solidFill>
              </a:rPr>
              <a:t>– </a:t>
            </a:r>
            <a:r>
              <a:rPr b="0" dirty="0" err="1">
                <a:solidFill>
                  <a:srgbClr val="555555"/>
                </a:solidFill>
              </a:rPr>
              <a:t>Phân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tích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dữ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liệu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khách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hàng</a:t>
            </a:r>
            <a:endParaRPr b="0" dirty="0">
              <a:solidFill>
                <a:srgbClr val="555555"/>
              </a:solidFill>
            </a:endParaRPr>
          </a:p>
          <a:p>
            <a:pPr lvl="1">
              <a:spcAft>
                <a:spcPts val="300"/>
              </a:spcAft>
            </a:pPr>
            <a:r>
              <a:rPr b="0" dirty="0">
                <a:solidFill>
                  <a:srgbClr val="555555"/>
                </a:solidFill>
              </a:rPr>
              <a:t>– </a:t>
            </a:r>
            <a:r>
              <a:rPr b="0" dirty="0" err="1">
                <a:solidFill>
                  <a:srgbClr val="555555"/>
                </a:solidFill>
              </a:rPr>
              <a:t>Chấm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điểm</a:t>
            </a:r>
            <a:r>
              <a:rPr b="0" dirty="0">
                <a:solidFill>
                  <a:srgbClr val="555555"/>
                </a:solidFill>
              </a:rPr>
              <a:t> Risk Score</a:t>
            </a:r>
          </a:p>
          <a:p>
            <a:pPr lvl="1">
              <a:spcAft>
                <a:spcPts val="300"/>
              </a:spcAft>
            </a:pPr>
            <a:r>
              <a:rPr b="0" dirty="0">
                <a:solidFill>
                  <a:srgbClr val="555555"/>
                </a:solidFill>
              </a:rPr>
              <a:t>– </a:t>
            </a:r>
            <a:r>
              <a:rPr b="0" dirty="0" err="1">
                <a:solidFill>
                  <a:srgbClr val="555555"/>
                </a:solidFill>
              </a:rPr>
              <a:t>Phân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nhóm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mức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độ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rủi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ro</a:t>
            </a:r>
            <a:endParaRPr b="0" dirty="0">
              <a:solidFill>
                <a:srgbClr val="555555"/>
              </a:solidFill>
            </a:endParaRPr>
          </a:p>
          <a:p>
            <a:pPr lvl="1">
              <a:spcAft>
                <a:spcPts val="300"/>
              </a:spcAft>
            </a:pPr>
            <a:r>
              <a:rPr b="0" dirty="0">
                <a:solidFill>
                  <a:srgbClr val="555555"/>
                </a:solidFill>
              </a:rPr>
              <a:t>– </a:t>
            </a:r>
            <a:r>
              <a:rPr b="0" dirty="0" err="1">
                <a:solidFill>
                  <a:srgbClr val="555555"/>
                </a:solidFill>
              </a:rPr>
              <a:t>Đề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xuất</a:t>
            </a:r>
            <a:r>
              <a:rPr b="0" dirty="0">
                <a:solidFill>
                  <a:srgbClr val="555555"/>
                </a:solidFill>
              </a:rPr>
              <a:t> Approve / Review / Reject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99999"/>
                </a:solidFill>
              </a:rPr>
              <a:t>Credit Risk Scoring System — Proposal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90C740-D808-B874-EB2E-698281507B80}"/>
              </a:ext>
            </a:extLst>
          </p:cNvPr>
          <p:cNvSpPr txBox="1"/>
          <p:nvPr/>
        </p:nvSpPr>
        <p:spPr>
          <a:xfrm>
            <a:off x="2426208" y="5525234"/>
            <a:ext cx="7802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2000" b="1" dirty="0">
                <a:solidFill>
                  <a:srgbClr val="2E6F95"/>
                </a:solidFill>
              </a:rPr>
              <a:t>Customer Data  →  Risk Scoring  →  Approve / Review / Reject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A44"/>
                </a:solidFill>
              </a:rPr>
              <a:t>2. Giải pháp &amp; Công nghệ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280160" cy="5080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99999"/>
                </a:solidFill>
              </a:rPr>
              <a:t>Credit Risk Scoring System — Proposal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E1AD98-29F3-CFCE-7E05-8757D773D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8336" y="877825"/>
            <a:ext cx="5700730" cy="54706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rgbClr val="1F2A44"/>
                </a:solidFill>
              </a:rPr>
              <a:t>3</a:t>
            </a:r>
            <a:r>
              <a:rPr sz="3000" b="1" dirty="0">
                <a:solidFill>
                  <a:srgbClr val="1F2A44"/>
                </a:solidFill>
              </a:rPr>
              <a:t>. </a:t>
            </a:r>
            <a:r>
              <a:rPr sz="3000" b="1" dirty="0" err="1">
                <a:solidFill>
                  <a:srgbClr val="1F2A44"/>
                </a:solidFill>
              </a:rPr>
              <a:t>Giá</a:t>
            </a:r>
            <a:r>
              <a:rPr sz="3000" b="1" dirty="0">
                <a:solidFill>
                  <a:srgbClr val="1F2A44"/>
                </a:solidFill>
              </a:rPr>
              <a:t> </a:t>
            </a:r>
            <a:r>
              <a:rPr sz="3000" b="1" dirty="0" err="1">
                <a:solidFill>
                  <a:srgbClr val="1F2A44"/>
                </a:solidFill>
              </a:rPr>
              <a:t>trị</a:t>
            </a:r>
            <a:r>
              <a:rPr sz="3000" b="1" dirty="0">
                <a:solidFill>
                  <a:srgbClr val="1F2A44"/>
                </a:solidFill>
              </a:rPr>
              <a:t> &amp; Định </a:t>
            </a:r>
            <a:r>
              <a:rPr sz="3000" b="1" dirty="0" err="1">
                <a:solidFill>
                  <a:srgbClr val="1F2A44"/>
                </a:solidFill>
              </a:rPr>
              <a:t>hướng</a:t>
            </a:r>
            <a:r>
              <a:rPr sz="3000" b="1" dirty="0">
                <a:solidFill>
                  <a:srgbClr val="1F2A44"/>
                </a:solidFill>
              </a:rPr>
              <a:t> Fintech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280160" cy="5080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394960" cy="1674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1" dirty="0">
                <a:solidFill>
                  <a:srgbClr val="2E6F95"/>
                </a:solidFill>
              </a:rPr>
              <a:t>Business</a:t>
            </a:r>
          </a:p>
          <a:p>
            <a:pPr>
              <a:spcAft>
                <a:spcPts val="300"/>
              </a:spcAft>
            </a:pPr>
            <a:r>
              <a:rPr b="0" dirty="0">
                <a:solidFill>
                  <a:srgbClr val="555555"/>
                </a:solidFill>
              </a:rPr>
              <a:t>• </a:t>
            </a:r>
            <a:r>
              <a:rPr b="0" dirty="0" err="1">
                <a:solidFill>
                  <a:srgbClr val="555555"/>
                </a:solidFill>
              </a:rPr>
              <a:t>Chuẩn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hóa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quy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trình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đánh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giá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tín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dụng</a:t>
            </a:r>
            <a:endParaRPr b="0" dirty="0">
              <a:solidFill>
                <a:srgbClr val="555555"/>
              </a:solidFill>
            </a:endParaRPr>
          </a:p>
          <a:p>
            <a:pPr>
              <a:spcAft>
                <a:spcPts val="300"/>
              </a:spcAft>
            </a:pPr>
            <a:r>
              <a:rPr b="0" dirty="0">
                <a:solidFill>
                  <a:srgbClr val="555555"/>
                </a:solidFill>
              </a:rPr>
              <a:t>• </a:t>
            </a:r>
            <a:r>
              <a:rPr b="0" dirty="0" err="1">
                <a:solidFill>
                  <a:srgbClr val="555555"/>
                </a:solidFill>
              </a:rPr>
              <a:t>Hỗ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trợ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ra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quyết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định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dựa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trên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dữ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liệu</a:t>
            </a:r>
            <a:endParaRPr b="0" dirty="0">
              <a:solidFill>
                <a:srgbClr val="555555"/>
              </a:solidFill>
            </a:endParaRPr>
          </a:p>
          <a:p>
            <a:pPr>
              <a:spcAft>
                <a:spcPts val="300"/>
              </a:spcAft>
            </a:pPr>
            <a:r>
              <a:rPr b="0" dirty="0">
                <a:solidFill>
                  <a:srgbClr val="555555"/>
                </a:solidFill>
              </a:rPr>
              <a:t>• </a:t>
            </a:r>
            <a:r>
              <a:rPr b="0" dirty="0" err="1">
                <a:solidFill>
                  <a:srgbClr val="555555"/>
                </a:solidFill>
              </a:rPr>
              <a:t>Giảm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thời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gian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đánh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giá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hồ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sơ</a:t>
            </a:r>
            <a:endParaRPr b="0" dirty="0">
              <a:solidFill>
                <a:srgbClr val="555555"/>
              </a:solidFill>
            </a:endParaRPr>
          </a:p>
          <a:p>
            <a:pPr>
              <a:spcAft>
                <a:spcPts val="300"/>
              </a:spcAft>
            </a:pPr>
            <a:r>
              <a:rPr b="0" dirty="0">
                <a:solidFill>
                  <a:srgbClr val="555555"/>
                </a:solidFill>
              </a:rPr>
              <a:t>• </a:t>
            </a:r>
            <a:r>
              <a:rPr b="0" dirty="0" err="1">
                <a:solidFill>
                  <a:srgbClr val="555555"/>
                </a:solidFill>
              </a:rPr>
              <a:t>Phân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tích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cân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bằng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giữa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lợi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nhuận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và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rủi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ro</a:t>
            </a:r>
            <a:endParaRPr b="0" dirty="0">
              <a:solidFill>
                <a:srgbClr val="555555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394960" cy="1674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1" dirty="0">
                <a:solidFill>
                  <a:srgbClr val="2E6F95"/>
                </a:solidFill>
              </a:rPr>
              <a:t>Technical</a:t>
            </a:r>
          </a:p>
          <a:p>
            <a:pPr>
              <a:spcAft>
                <a:spcPts val="300"/>
              </a:spcAft>
            </a:pPr>
            <a:r>
              <a:rPr b="0" dirty="0">
                <a:solidFill>
                  <a:srgbClr val="555555"/>
                </a:solidFill>
              </a:rPr>
              <a:t>• End-to-end Data Pipeline</a:t>
            </a:r>
          </a:p>
          <a:p>
            <a:pPr>
              <a:spcAft>
                <a:spcPts val="300"/>
              </a:spcAft>
            </a:pPr>
            <a:r>
              <a:rPr b="0" dirty="0">
                <a:solidFill>
                  <a:srgbClr val="555555"/>
                </a:solidFill>
              </a:rPr>
              <a:t>• Credit Risk Modeling</a:t>
            </a:r>
          </a:p>
          <a:p>
            <a:pPr>
              <a:spcAft>
                <a:spcPts val="300"/>
              </a:spcAft>
            </a:pPr>
            <a:r>
              <a:rPr b="0" dirty="0">
                <a:solidFill>
                  <a:srgbClr val="555555"/>
                </a:solidFill>
              </a:rPr>
              <a:t>• Dashboard </a:t>
            </a:r>
            <a:r>
              <a:rPr b="0" dirty="0" err="1">
                <a:solidFill>
                  <a:srgbClr val="555555"/>
                </a:solidFill>
              </a:rPr>
              <a:t>trực</a:t>
            </a:r>
            <a:r>
              <a:rPr b="0" dirty="0">
                <a:solidFill>
                  <a:srgbClr val="555555"/>
                </a:solidFill>
              </a:rPr>
              <a:t> </a:t>
            </a:r>
            <a:r>
              <a:rPr b="0" dirty="0" err="1">
                <a:solidFill>
                  <a:srgbClr val="555555"/>
                </a:solidFill>
              </a:rPr>
              <a:t>quan</a:t>
            </a:r>
            <a:endParaRPr b="0" dirty="0">
              <a:solidFill>
                <a:srgbClr val="555555"/>
              </a:solidFill>
            </a:endParaRPr>
          </a:p>
          <a:p>
            <a:pPr>
              <a:spcAft>
                <a:spcPts val="300"/>
              </a:spcAft>
            </a:pPr>
            <a:r>
              <a:rPr b="0" dirty="0">
                <a:solidFill>
                  <a:srgbClr val="555555"/>
                </a:solidFill>
              </a:rPr>
              <a:t>• Business 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99999"/>
                </a:solidFill>
              </a:rPr>
              <a:t>Credit Risk Scoring System — Proposal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</TotalTime>
  <Words>229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Ngo Thi Ngoc Anh</cp:lastModifiedBy>
  <cp:revision>6</cp:revision>
  <dcterms:created xsi:type="dcterms:W3CDTF">2013-01-27T09:14:16Z</dcterms:created>
  <dcterms:modified xsi:type="dcterms:W3CDTF">2026-07-23T10:27:29Z</dcterms:modified>
  <cp:category/>
</cp:coreProperties>
</file>